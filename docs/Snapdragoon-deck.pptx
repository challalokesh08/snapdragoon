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5400" b="0" i="0">
                <a:solidFill>
                  <a:srgbClr val="F5A623"/>
                </a:solidFill>
                <a:latin typeface="Calibri"/>
              </a:rPr>
              <a:t>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6200" b="1" i="0">
                <a:solidFill>
                  <a:srgbClr val="F2F5F9"/>
                </a:solidFill>
                <a:latin typeface="Calibri"/>
              </a:rPr>
              <a:t>Snapdragoon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127248"/>
            <a:ext cx="201168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0156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2500" b="0" i="0">
                <a:solidFill>
                  <a:srgbClr val="F2F5F9"/>
                </a:solidFill>
                <a:latin typeface="Calibri"/>
              </a:rPr>
              <a:t>An offline, on-device accessibility co-pilot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58768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80"/>
              </a:spcAft>
            </a:pPr>
            <a:r>
              <a:rPr sz="1600" b="0" i="0">
                <a:solidFill>
                  <a:srgbClr val="9AA7B8"/>
                </a:solidFill>
                <a:latin typeface="Calibri"/>
              </a:rPr>
              <a:t>Live captions and scene description for people who are blind, deaf or hard of hearing — running entirely on your own hardware.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92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250" b="0" i="0">
                <a:solidFill>
                  <a:srgbClr val="273142"/>
                </a:solidFill>
                <a:latin typeface="Calibri"/>
              </a:rPr>
              <a:t>Qualcomm Snapdragon AI Lab  ·  Build &amp; Present Challenge  ·  Python + ONNX Runtime, with a QNN / AI Hub NPU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On-device AI demos are inaccessible by default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84832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Captions nobody hears. </a:t>
            </a:r>
            <a:r>
              <a:rPr sz="1700">
                <a:solidFill>
                  <a:srgbClr val="9AA7B8"/>
                </a:solidFill>
                <a:latin typeface="Calibri"/>
              </a:rPr>
              <a:t>Live text that updates silently is invisible to a screen reader unless it is in a live region.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560320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A canvas is not an interface. </a:t>
            </a:r>
            <a:r>
              <a:rPr sz="1700">
                <a:solidFill>
                  <a:srgbClr val="9AA7B8"/>
                </a:solidFill>
                <a:latin typeface="Calibri"/>
              </a:rPr>
              <a:t>Scene descriptions drawn into a &lt;canvas&gt; have no text alternative at all.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35808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1693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A div is not a button. </a:t>
            </a:r>
            <a:r>
              <a:rPr sz="1700">
                <a:solidFill>
                  <a:srgbClr val="9AA7B8"/>
                </a:solidFill>
                <a:latin typeface="Calibri"/>
              </a:rPr>
              <a:t>role="button" on a click handler does not give it a role, a name, a focus stop or a keyboard activation.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11296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924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Status for everyone except the person who needs it. </a:t>
            </a:r>
            <a:r>
              <a:rPr sz="1700">
                <a:solidFill>
                  <a:srgbClr val="9AA7B8"/>
                </a:solidFill>
                <a:latin typeface="Calibri"/>
              </a:rPr>
              <a:t>Errors and confirmations that only appear visually.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3892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0" i="1">
                <a:solidFill>
                  <a:srgbClr val="9AA7B8"/>
                </a:solidFill>
                <a:latin typeface="Calibri"/>
              </a:rPr>
              <a:t>This is not a rare edge case. It is the default outcome of building a visual demo, and it is invisible to automated checks that only look at contrast or ARIA attributes.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THE PROBLEM, EVIDENCED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We measured it rather than assuming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9AA7B8"/>
                </a:solidFill>
                <a:latin typeface="Calibri"/>
              </a:rPr>
              <a:t>Two WCAG 2.2 AA audits of live on-device-AI pages, by rendered-DOM inspection, computed styles and real keyboard traversal.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30 issues in total across the two pages:  9 Blocker  ·  5 Serious  ·  11 Moderate  ·  5 Minor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15768"/>
            <a:ext cx="201168" cy="4445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26151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F2F5F9"/>
                </a:solidFill>
                <a:latin typeface="Calibri"/>
              </a:rPr>
              <a:t>Zero headings in the page content — every title is a &lt;span&gt;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27832"/>
            <a:ext cx="201168" cy="4445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31272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F2F5F9"/>
                </a:solidFill>
                <a:latin typeface="Calibri"/>
              </a:rPr>
              <a:t>Primary journey is static text: &lt;main&gt; has 0 focusable elements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739896"/>
            <a:ext cx="201168" cy="4445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36393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F2F5F9"/>
                </a:solidFill>
                <a:latin typeface="Calibri"/>
              </a:rPr>
              <a:t>Closed off-canvas dialog is not inert; its Close button is tab stop #5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251960"/>
            <a:ext cx="201168" cy="4445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415137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F2F5F9"/>
                </a:solidFill>
                <a:latin typeface="Calibri"/>
              </a:rPr>
              <a:t>6 links and 2 buttons with no accessible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64024"/>
            <a:ext cx="201168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F2F5F9"/>
                </a:solidFill>
                <a:latin typeface="Calibri"/>
              </a:rPr>
              <a:t>No skip link — 35 tab stops from the header into 29 footer links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276088"/>
            <a:ext cx="201168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517550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F2F5F9"/>
                </a:solidFill>
                <a:latin typeface="Calibri"/>
              </a:rPr>
              <a:t>A feedback widget's close button is tabindex="-1": keyboard cannot dismiss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230368"/>
            <a:ext cx="10637215" cy="731520"/>
          </a:xfrm>
          <a:prstGeom prst="rect">
            <a:avLst/>
          </a:prstGeom>
          <a:solidFill>
            <a:srgbClr val="151C28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3272" y="5394960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A sample of the Qualcomm AI Lab findings; both full audits are in the repository, and every category above has a corresponding regression test in ours.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Two capabilities, both on-device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38528"/>
            <a:ext cx="5029200" cy="2286000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762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2200" b="1" i="0">
                <a:solidFill>
                  <a:srgbClr val="F2F5F9"/>
                </a:solidFill>
                <a:latin typeface="Calibri"/>
              </a:rPr>
              <a:t>Live captions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91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68"/>
              </a:spcAft>
            </a:pPr>
            <a:r>
              <a:rPr sz="1400" b="0" i="0">
                <a:solidFill>
                  <a:srgbClr val="9AA7B8"/>
                </a:solidFill>
                <a:latin typeface="Calibri"/>
              </a:rPr>
              <a:t>Whisper Tiny (EN) — 5 s rolling window, greedy decode, KV-cached. Announced through a polite live region, with full history kept so it can be re-read.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938528"/>
            <a:ext cx="5029200" cy="2286000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762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2200" b="1" i="0">
                <a:solidFill>
                  <a:srgbClr val="F2F5F9"/>
                </a:solidFill>
                <a:latin typeface="Calibri"/>
              </a:rPr>
              <a:t>Scene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6791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8000"/>
              </a:lnSpc>
              <a:spcAft>
                <a:spcPts val="768"/>
              </a:spcAft>
            </a:pPr>
            <a:r>
              <a:rPr sz="1400" b="0" i="0">
                <a:solidFill>
                  <a:srgbClr val="9AA7B8"/>
                </a:solidFill>
                <a:latin typeface="Calibri"/>
              </a:rPr>
              <a:t>MobileNet V2 (ImageNet-1k) — top-3 classes with confidences, as real text in the DOM, not drawn into a canvas. Works on a still image, a file, or a live camera.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778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0">
                <a:solidFill>
                  <a:srgbClr val="9AA7B8"/>
                </a:solidFill>
                <a:latin typeface="Calibri"/>
              </a:rPr>
              <a:t>No account. No network call. No data leaves the device. The app works with no model files at all — and says so, rather than faking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One interface, three backends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9AA7B8"/>
                </a:solidFill>
                <a:latin typeface="Calibri"/>
              </a:rPr>
              <a:t>The central design decision: the app never imports a runtime. It talks to an Engine, and the Engine is configuration.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322576"/>
            <a:ext cx="10607040" cy="786384"/>
          </a:xfrm>
          <a:prstGeom prst="rect">
            <a:avLst/>
          </a:prstGeom>
          <a:solidFill>
            <a:srgbClr val="151C28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800" b="1" i="0">
                <a:solidFill>
                  <a:srgbClr val="F2F5F9"/>
                </a:solidFill>
                <a:latin typeface="Consolas"/>
              </a:rPr>
              <a:t>Engine  (abstract)   ·   transcribe()  ·   classify()  ·   describe()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38144"/>
            <a:ext cx="3291840" cy="2103120"/>
          </a:xfrm>
          <a:prstGeom prst="rect">
            <a:avLst/>
          </a:prstGeom>
          <a:solidFill>
            <a:srgbClr val="151C28"/>
          </a:solidFill>
          <a:ln w="12700">
            <a:solidFill>
              <a:srgbClr val="9A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36210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700" b="1" i="0">
                <a:solidFill>
                  <a:srgbClr val="F2F5F9"/>
                </a:solidFill>
                <a:latin typeface="Calibri"/>
              </a:rPr>
              <a:t>DemoEngine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9136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100" b="1" i="0">
                <a:solidFill>
                  <a:srgbClr val="9AA7B8"/>
                </a:solidFill>
                <a:latin typeface="Calibri"/>
              </a:rPr>
              <a:t>runs anywhere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32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No model files. Self-labelling: every caption it emits is prefixed so it can never be mistaken for inference.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438144"/>
            <a:ext cx="3291840" cy="2103120"/>
          </a:xfrm>
          <a:prstGeom prst="rect">
            <a:avLst/>
          </a:prstGeom>
          <a:solidFill>
            <a:srgbClr val="151C28"/>
          </a:solidFill>
          <a:ln w="12700">
            <a:solidFill>
              <a:srgbClr val="3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36210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700" b="1" i="0">
                <a:solidFill>
                  <a:srgbClr val="F2F5F9"/>
                </a:solidFill>
                <a:latin typeface="Calibri"/>
              </a:rPr>
              <a:t>OnnxEngine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39136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100" b="1" i="0">
                <a:solidFill>
                  <a:srgbClr val="3DD6C0"/>
                </a:solidFill>
                <a:latin typeface="Calibri"/>
              </a:rP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32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ONNX Runtime on CPU. Whisper + MobileNet, the development and CI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438144"/>
            <a:ext cx="3291840" cy="2103120"/>
          </a:xfrm>
          <a:prstGeom prst="rect">
            <a:avLst/>
          </a:prstGeom>
          <a:solidFill>
            <a:srgbClr val="151C2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36210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700" b="1" i="0">
                <a:solidFill>
                  <a:srgbClr val="F2F5F9"/>
                </a:solidFill>
                <a:latin typeface="Calibri"/>
              </a:rPr>
              <a:t>QualcommEngine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391363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unverified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42062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2000"/>
              </a:lnSpc>
              <a:spcAft>
                <a:spcPts val="732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QNN / Qualcomm AI Hub / LiteRT. Raises QualcommUnavailable off-Snapdragon rather than silently falling 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4243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50" b="0" i="1">
                <a:solidFill>
                  <a:srgbClr val="9AA7B8"/>
                </a:solidFill>
                <a:latin typeface="Calibri"/>
              </a:rPr>
              <a:t>Mac → Snapdragon is a config change, not a rewrite. That is what let this be built and verified without the target hardware.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The audio front-end is part of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121408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0253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Whisper's expected mel spectrogram is reproduced exactly. </a:t>
            </a:r>
            <a:r>
              <a:rPr sz="1700">
                <a:solidFill>
                  <a:srgbClr val="9AA7B8"/>
                </a:solidFill>
                <a:latin typeface="Calibri"/>
              </a:rPr>
              <a:t>Slaney-style mel filterbank with area normalisation, and a periodic Hann window — not a symmetric one.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054096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93522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Power spectrum accumulated in float64. </a:t>
            </a:r>
            <a:r>
              <a:rPr sz="1700">
                <a:solidFill>
                  <a:srgbClr val="9AA7B8"/>
                </a:solidFill>
                <a:latin typeface="Calibri"/>
              </a:rPr>
              <a:t>float32 silently overflows at 30 s of input and returns NaN, which looks like a model failure rather than a DSP bug.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6791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Normalisation was measured, not assumed. </a:t>
            </a:r>
            <a:r>
              <a:rPr sz="1700">
                <a:solidFill>
                  <a:srgbClr val="9AA7B8"/>
                </a:solidFill>
                <a:latin typeface="Calibri"/>
              </a:rPr>
              <a:t>Filterbank area spread across bands: 7.96× un-normalised, 1.16× with Slaney normalisation.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919472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00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700" b="1">
                <a:solidFill>
                  <a:srgbClr val="F2F5F9"/>
                </a:solidFill>
                <a:latin typeface="Calibri"/>
              </a:rPr>
              <a:t>Short windows are refused, in content seconds — not padding ratio. </a:t>
            </a:r>
            <a:r>
              <a:rPr sz="1700">
                <a:solidFill>
                  <a:srgbClr val="9AA7B8"/>
                </a:solidFill>
                <a:latin typeface="Calibri"/>
              </a:rPr>
              <a:t>5 s padded to 30 s is 83% padding and transcribes correctly. 1 s is 97% padding and hallucinates. The engine knows its own padding, so the gate lives there.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504688"/>
            <a:ext cx="10637215" cy="713232"/>
          </a:xfrm>
          <a:prstGeom prst="rect">
            <a:avLst/>
          </a:prstGeom>
          <a:solidFill>
            <a:srgbClr val="151C28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705856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0" i="0">
                <a:solidFill>
                  <a:srgbClr val="F2F5F9"/>
                </a:solidFill>
                <a:latin typeface="Calibri"/>
              </a:rPr>
              <a:t>A wrong front-end still produces fluent, confident, wrong text — so it is checked against a known transcript, every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TECHNICAL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Seven ways a Whisper ONNX export fails silently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9AA7B8"/>
                </a:solidFill>
                <a:latin typeface="Calibri"/>
              </a:rPr>
              <a:t>None of these raise. Each produces plausible output that is quietly wrong, which is why every one is now a named test.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67712"/>
            <a:ext cx="2743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997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2585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get_inputs()[0] ordering — A different export order feeds the encoder the token ids. No error, total garbage.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802636"/>
            <a:ext cx="274320" cy="274320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7934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present.N.* vs past_key_values.N.* — Same tensors, two names. Matched naively, the KV cache is never used: every step re-decodes from empty context — fluent, degenerate repetition.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337560"/>
            <a:ext cx="2743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6956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3284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Encoder present on the cached path — Returns a (0, 6, 1, 64) zero-batch placeholder. Feed it back and encoder attention dies from token two: right for a few words, then stops for no visible reason.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872484"/>
            <a:ext cx="274320" cy="274320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044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38633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Symbolic dims in a declared shape — ['batch_size', 6, 'past_seq', 64] filtered to ints becomes [6, 64] and reads as heads=64.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407408"/>
            <a:ext cx="2743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941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39826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logits axis order — Exports differ between (b, seq, vocab) and (b, vocab, seq). Resolved against declared vocab_size.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42332"/>
            <a:ext cx="274320" cy="274320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7433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493318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Hard-coded special-token ids — SOT/EOT differ per checkpoint — and tiktoken.encode("&lt;|startoftranscript|&gt;")[0] is 27, not the special id.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5477256"/>
            <a:ext cx="274320" cy="274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092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750"/>
              </a:spcAft>
            </a:pPr>
            <a:r>
              <a:rPr sz="1200" b="1" i="0">
                <a:solidFill>
                  <a:srgbClr val="0C1018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54681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1300" b="0" i="0">
                <a:solidFill>
                  <a:srgbClr val="F2F5F9"/>
                </a:solidFill>
                <a:latin typeface="Calibri"/>
              </a:rPr>
              <a:t>&lt;|en|&gt; on an English-only checkpoint — Costs accuracy for a token with no meaning there. Switched on is_multilingual from config.json.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Accessibility as a contract, not a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3DD6C0"/>
                </a:solidFill>
                <a:latin typeface="Calibri"/>
              </a:rPr>
              <a:t>11/11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23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automated a11y gates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9568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A623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523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assertions in the web test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9568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5A623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23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issues found auditing 2 live AI-lab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9568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3DD6C0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5237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suppressed focus outlines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346704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22783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F2F5F9"/>
                </a:solidFill>
                <a:latin typeface="Calibri"/>
              </a:rPr>
              <a:t>A skip link is the first focusable element — and its landing target keeps its outline.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877056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58184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F2F5F9"/>
                </a:solidFill>
                <a:latin typeface="Calibri"/>
              </a:rPr>
              <a:t>Captions go to a polite live region, so they never interrupt; the full transcript stays re-readable.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407408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88536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F2F5F9"/>
                </a:solidFill>
                <a:latin typeface="Calibri"/>
              </a:rPr>
              <a:t>Every control is a real &lt;button&gt;, operable by keyboard alone. No role="button" on a div.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937760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81888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F2F5F9"/>
                </a:solidFill>
                <a:latin typeface="Calibri"/>
              </a:rPr>
              <a:t>Scene output is real text in the DOM, so it is selectable, zoomable and reachable.</a:t>
            </a:r>
          </a:p>
        </p:txBody>
      </p:sp>
      <p:sp>
        <p:nvSpPr>
          <p:cNvPr id="22" name="Oval 21"/>
          <p:cNvSpPr/>
          <p:nvPr/>
        </p:nvSpPr>
        <p:spPr>
          <a:xfrm>
            <a:off x="777240" y="5468112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4924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0">
                <a:solidFill>
                  <a:srgbClr val="F2F5F9"/>
                </a:solidFill>
                <a:latin typeface="Calibri"/>
              </a:rPr>
              <a:t>Contrast ≥ 4.5:1 everywhere, and the live region respects prefers-reduced-motion.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687568"/>
            <a:ext cx="10637215" cy="566928"/>
          </a:xfrm>
          <a:prstGeom prst="rect">
            <a:avLst/>
          </a:prstGeom>
          <a:solidFill>
            <a:srgbClr val="151C28"/>
          </a:solidFill>
          <a:ln w="12700">
            <a:solidFill>
              <a:srgbClr val="3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833872"/>
            <a:ext cx="101800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Regression-tested, not asserted: outline: none appears nowhere in the codebase, and a test fails if it ever does.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Measured on real audio, on a laptop CPU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F5A623"/>
                </a:solidFill>
                <a:latin typeface="Calibri"/>
              </a:rPr>
              <a:t>190 ms–400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Whisper Tiny, 5 s window
12x–26x 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3DD6C0"/>
                </a:solidFill>
                <a:latin typeface="Calibri"/>
              </a:rPr>
              <a:t>5.3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MobileNet V2, 640×480
189 fps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300" b="1" i="0">
                <a:solidFill>
                  <a:srgbClr val="3DD6C0"/>
                </a:solidFill>
                <a:latin typeface="Calibri"/>
              </a:rPr>
              <a:t>126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487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9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tests passing, weights present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182112"/>
            <a:ext cx="10607040" cy="1170432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33284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1" i="0">
                <a:solidFill>
                  <a:srgbClr val="F5A623"/>
                </a:solidFill>
                <a:latin typeface="Calibri"/>
              </a:rPr>
              <a:t>Where the time goes  (measured, not asserted)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00" b="0" i="0">
                <a:solidFill>
                  <a:srgbClr val="9AA7B8"/>
                </a:solidFill>
                <a:latin typeface="Calibri"/>
              </a:rPr>
              <a:t>Encoder forward  125 ms — a fixed cost of the graph, identical in every environment tested.        Decode loop  ~50 ms / 12 tokens — dominated by re-feeding the encoder KV cache, which is a property of the export.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7607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1">
                <a:solidFill>
                  <a:srgbClr val="9AA7B8"/>
                </a:solidFill>
                <a:latin typeface="Calibri"/>
              </a:rPr>
              <a:t>The range is published rather than the best run. Two Python environments on this one machine — same onnxruntime wheel, same session options — gave 194 ms and 402 ms for identical audio and an identical transcript, so the benchmark now records the numeric stack next to every number.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Fast and wrong is worthless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56816"/>
            <a:ext cx="10607040" cy="1298448"/>
          </a:xfrm>
          <a:prstGeom prst="rect">
            <a:avLst/>
          </a:prstGeom>
          <a:solidFill>
            <a:srgbClr val="151C28"/>
          </a:solidFill>
          <a:ln w="12700">
            <a:solidFill>
              <a:srgbClr val="3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2140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00" b="1" i="0">
                <a:solidFill>
                  <a:srgbClr val="3DD6C0"/>
                </a:solidFill>
                <a:latin typeface="Calibri"/>
              </a:rPr>
              <a:t>Speech, verified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140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600" b="0" i="1">
                <a:solidFill>
                  <a:srgbClr val="F2F5F9"/>
                </a:solidFill>
                <a:latin typeface="Calibri"/>
              </a:rPr>
              <a:t>“And so my fellow Americans ask not what your country can do for you, ask what you can do for your country.”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93008"/>
            <a:ext cx="10607040" cy="1298448"/>
          </a:xfrm>
          <a:prstGeom prst="rect">
            <a:avLst/>
          </a:prstGeom>
          <a:solidFill>
            <a:srgbClr val="151C28"/>
          </a:solidFill>
          <a:ln w="12700">
            <a:solidFill>
              <a:srgbClr val="3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00" b="1" i="0">
                <a:solidFill>
                  <a:srgbClr val="3DD6C0"/>
                </a:solidFill>
                <a:latin typeface="Calibri"/>
              </a:rPr>
              <a:t>Vision,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9502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600" b="0" i="0">
                <a:solidFill>
                  <a:srgbClr val="F2F5F9"/>
                </a:solidFill>
                <a:latin typeface="Calibri"/>
              </a:rPr>
              <a:t>A photograph of a white Golden Retriever →  Samoyed 59.0%  /  Pomeranian 10.2%  /  West Highland white terrier 6.5%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4243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0" i="0">
                <a:solidFill>
                  <a:srgbClr val="9AA7B8"/>
                </a:solidFill>
                <a:latin typeface="Calibri"/>
              </a:rPr>
              <a:t>Both run on every clean clone via scripts/fetch_models.py --verify, which checks the transcript and the classification rather than merely confirming the files downloaded.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THE HONEST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What is verified, and what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500" b="0" i="1">
                <a:solidFill>
                  <a:srgbClr val="9AA7B8"/>
                </a:solidFill>
                <a:latin typeface="Calibri"/>
              </a:rPr>
              <a:t>This is the slide that decides whether a technical reviewer trusts everything else on the deck.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267712"/>
            <a:ext cx="5120640" cy="3749039"/>
          </a:xfrm>
          <a:prstGeom prst="rect">
            <a:avLst/>
          </a:prstGeom>
          <a:solidFill>
            <a:srgbClr val="151C28"/>
          </a:solidFill>
          <a:ln w="12700">
            <a:solidFill>
              <a:srgbClr val="3DD6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1" i="0">
                <a:solidFill>
                  <a:srgbClr val="3DD6C0"/>
                </a:solidFill>
                <a:latin typeface="Calibri"/>
              </a:rPr>
              <a:t>VERIFIED</a:t>
            </a:r>
          </a:p>
        </p:txBody>
      </p:sp>
      <p:sp>
        <p:nvSpPr>
          <p:cNvPr id="9" name="Oval 8"/>
          <p:cNvSpPr/>
          <p:nvPr/>
        </p:nvSpPr>
        <p:spPr>
          <a:xfrm>
            <a:off x="1051560" y="2962656"/>
            <a:ext cx="91440" cy="91440"/>
          </a:xfrm>
          <a:prstGeom prst="ellipse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284378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Both models run and are correct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3438144"/>
            <a:ext cx="91440" cy="91440"/>
          </a:xfrm>
          <a:prstGeom prst="ellipse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3192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Full test suite, from a clean clone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913632"/>
            <a:ext cx="91440" cy="91440"/>
          </a:xfrm>
          <a:prstGeom prst="ellipse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794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Web app, SSE caption stream, accessible UI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4389120"/>
            <a:ext cx="91440" cy="91440"/>
          </a:xfrm>
          <a:prstGeom prst="ellipse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42702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11/11 automated accessibility gates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864608"/>
            <a:ext cx="91440" cy="91440"/>
          </a:xfrm>
          <a:prstGeom prst="ellipse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7457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Latency, measured on real audio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" y="5340096"/>
            <a:ext cx="91440" cy="91440"/>
          </a:xfrm>
          <a:prstGeom prst="ellipse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22122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Clean-clone install with no weights in git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267712"/>
            <a:ext cx="5120640" cy="3749039"/>
          </a:xfrm>
          <a:prstGeom prst="rect">
            <a:avLst/>
          </a:prstGeom>
          <a:solidFill>
            <a:srgbClr val="151C28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4688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1" i="0">
                <a:solidFill>
                  <a:srgbClr val="FF6B6B"/>
                </a:solidFill>
                <a:latin typeface="Calibri"/>
              </a:rPr>
              <a:t>NOT VERIFIED — no device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962656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84378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Any Snapdragon NPU latency figure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438144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331927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Any on-device photograph or capture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3913632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794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QNN context-binary generation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4389120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42702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AI Hub compile and profile runs</a:t>
            </a:r>
          </a:p>
        </p:txBody>
      </p:sp>
      <p:sp>
        <p:nvSpPr>
          <p:cNvPr id="31" name="Oval 30"/>
          <p:cNvSpPr/>
          <p:nvPr/>
        </p:nvSpPr>
        <p:spPr>
          <a:xfrm>
            <a:off x="6537960" y="4864608"/>
            <a:ext cx="91440" cy="91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474573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alibri"/>
              </a:rPr>
              <a:t>Windows / DirectML execution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1558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0" i="0">
                <a:solidFill>
                  <a:srgbClr val="F2F5F9"/>
                </a:solidFill>
                <a:latin typeface="Calibri"/>
              </a:rPr>
              <a:t>No Snapdragon device was available during this build. The NPU backend is implemented against the real QNN and AI Hub APIs and documented step by step — but implemented is not measured, and no NPU number is claimed anywhere in this project.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PLATFORM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The Snapdragon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84832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2F5F9"/>
                </a:solidFill>
                <a:latin typeface="Calibri"/>
              </a:rPr>
              <a:t>The models are already the right ones. </a:t>
            </a:r>
            <a:r>
              <a:rPr sz="1500">
                <a:solidFill>
                  <a:srgbClr val="9AA7B8"/>
                </a:solidFill>
                <a:latin typeface="Calibri"/>
              </a:rPr>
              <a:t>Both are published by Qualcomm on AI Hub in QNN-ready form, so the deployment is a compile step rather than a model swap.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944368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25496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2F5F9"/>
                </a:solidFill>
                <a:latin typeface="Calibri"/>
              </a:rPr>
              <a:t>QualcommEngine targets QNN, AI Hub DirectML and LiteRT. </a:t>
            </a:r>
            <a:r>
              <a:rPr sz="1500">
                <a:solidFill>
                  <a:srgbClr val="9AA7B8"/>
                </a:solidFill>
                <a:latin typeface="Calibri"/>
              </a:rPr>
              <a:t>Off-Snapdragon it raises QualcommUnavailable rather than silently degrading to CPU — so a demo can never claim an NPU it is not using.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803904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685032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2F5F9"/>
                </a:solidFill>
                <a:latin typeface="Calibri"/>
              </a:rPr>
              <a:t>The status endpoint reports the truth. </a:t>
            </a:r>
            <a:r>
              <a:rPr sz="1500">
                <a:solidFill>
                  <a:srgbClr val="9AA7B8"/>
                </a:solidFill>
                <a:latin typeface="Calibri"/>
              </a:rPr>
              <a:t>/api/status states which engine is live and whether it is NPU-accelerated, and the UI shows it. Showing that proactively is worth more than being asked.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663440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44568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2F5F9"/>
                </a:solidFill>
                <a:latin typeface="Calibri"/>
              </a:rPr>
              <a:t>Conversion is documented command by command. </a:t>
            </a:r>
            <a:r>
              <a:rPr sz="1500">
                <a:solidFill>
                  <a:srgbClr val="9AA7B8"/>
                </a:solidFill>
                <a:latin typeface="Calibri"/>
              </a:rPr>
              <a:t>Expected QNN tensor names, KV-cache handling, and a troubleshooting table in docs/SNAPDRAGON_DEPLOYMENT.md.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5522976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404104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F2F5F9"/>
                </a:solidFill>
                <a:latin typeface="Calibri"/>
              </a:rPr>
              <a:t>And then run the benchmark. </a:t>
            </a:r>
            <a:r>
              <a:rPr sz="1500">
                <a:solidFill>
                  <a:srgbClr val="9AA7B8"/>
                </a:solidFill>
                <a:latin typeface="Calibri"/>
              </a:rPr>
              <a:t>scripts/benchmark.py --backend qualcomm produces the NPU figures. It has never been run, because there was no device to run it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960"/>
              </a:spcAft>
            </a:pPr>
            <a:r>
              <a:rPr sz="1200" b="1" i="0">
                <a:solidFill>
                  <a:srgbClr val="F5A623"/>
                </a:solidFill>
                <a:latin typeface="Calibri"/>
              </a:rPr>
              <a:t>TRY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77824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Run it in four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37160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29968"/>
            <a:ext cx="10607040" cy="512064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148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9AA7B8"/>
                </a:solidFill>
                <a:latin typeface="Consolas"/>
              </a:rPr>
              <a:t>$ git clone https://github.com/challalokesh08/snapdragoon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10607040" cy="512064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27706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9AA7B8"/>
                </a:solidFill>
                <a:latin typeface="Consolas"/>
              </a:rPr>
              <a:t>$ cd snapdragoon &amp;&amp; python -m venv .venv &amp;&amp; source .venv/bin/activate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73552"/>
            <a:ext cx="10607040" cy="512064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39242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onsolas"/>
              </a:rPr>
              <a:t>$ pip install -r requirements.txt        # runs with no model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95344"/>
            <a:ext cx="10607040" cy="512064"/>
          </a:xfrm>
          <a:prstGeom prst="rect">
            <a:avLst/>
          </a:prstGeom>
          <a:solidFill>
            <a:srgbClr val="15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401421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onsolas"/>
              </a:rPr>
              <a:t>$ python -m snapdragoon.web.app          # → http://127.0.0.1:8765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1830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With real inference: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0">
                <a:solidFill>
                  <a:srgbClr val="F2F5F9"/>
                </a:solidFill>
                <a:latin typeface="Consolas"/>
              </a:rPr>
              <a:t>$ pip install -r requirements-ml.txt &amp;&amp; python scripts/fetch_models.py --public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521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350" b="0" i="1">
                <a:solidFill>
                  <a:srgbClr val="9AA7B8"/>
                </a:solidFill>
                <a:latin typeface="Calibri"/>
              </a:rPr>
              <a:t>Models are fetched, never vendored — the repository stays small and carries no third-party weights.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4800" b="0" i="0">
                <a:solidFill>
                  <a:srgbClr val="F5A623"/>
                </a:solidFill>
                <a:latin typeface="Calibri"/>
              </a:rPr>
              <a:t>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6372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  <a:spcAft>
                <a:spcPts val="708"/>
              </a:spcAft>
            </a:pPr>
            <a:r>
              <a:rPr sz="3400" b="1" i="0">
                <a:solidFill>
                  <a:srgbClr val="F2F5F9"/>
                </a:solidFill>
                <a:latin typeface="Calibri"/>
              </a:rPr>
              <a:t>On-device AI should not require sighted, hearing,
keyboard-and-mouse users to operate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310128"/>
            <a:ext cx="2011680" cy="25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4448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80"/>
              </a:spcAft>
            </a:pPr>
            <a:r>
              <a:rPr sz="1700" b="0" i="0">
                <a:solidFill>
                  <a:srgbClr val="9AA7B8"/>
                </a:solidFill>
                <a:latin typeface="Calibri"/>
              </a:rPr>
              <a:t>Snapdragoon is a working, tested, honestly-measured answer — with an NPU path ready for the hardware it was built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780"/>
              </a:spcAft>
            </a:pPr>
            <a:r>
              <a:rPr sz="1250" b="0" i="0">
                <a:solidFill>
                  <a:srgbClr val="3DD6C0"/>
                </a:solidFill>
                <a:latin typeface="Calibri"/>
              </a:rPr>
              <a:t>github.com/challalokesh08/snapdragoon</a:t>
            </a:r>
          </a:p>
          <a:p>
            <a:pPr>
              <a:lnSpc>
                <a:spcPct val="130000"/>
              </a:lnSpc>
              <a:spcAft>
                <a:spcPts val="780"/>
              </a:spcAft>
            </a:pPr>
            <a:r>
              <a:rPr sz="1250" b="0" i="0">
                <a:solidFill>
                  <a:srgbClr val="9AA7B8"/>
                </a:solidFill>
                <a:latin typeface="Calibri"/>
              </a:rPr>
              <a:t>      Independent student project — not affiliated with or endorsed by Qualcomm. “Snapdragon” is a trademark of Qualcomm Incorporated.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Snapdragoon — on-device accessibility co-pilot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65815" y="63825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  <a:spcAft>
                <a:spcPts val="750"/>
              </a:spcAft>
            </a:pPr>
            <a:r>
              <a:rPr sz="1000" b="0" i="0">
                <a:solidFill>
                  <a:srgbClr val="27314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