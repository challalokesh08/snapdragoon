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5400" b="0" i="0">
                <a:solidFill>
                  <a:srgbClr val="F5A623"/>
                </a:solidFill>
                <a:latin typeface="Calibri"/>
              </a:rPr>
              <a:t>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240280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6200" b="1" i="0">
                <a:solidFill>
                  <a:srgbClr val="F2F5F9"/>
                </a:solidFill>
                <a:latin typeface="Calibri"/>
              </a:rPr>
              <a:t>Snapdragoon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127248"/>
            <a:ext cx="2011680" cy="254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401568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90"/>
              </a:spcAft>
            </a:pPr>
            <a:r>
              <a:rPr sz="2500" b="0" i="0">
                <a:solidFill>
                  <a:srgbClr val="F2F5F9"/>
                </a:solidFill>
                <a:latin typeface="Calibri"/>
              </a:rPr>
              <a:t>An offline, on-device accessibility co-pilot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58768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780"/>
              </a:spcAft>
            </a:pPr>
            <a:r>
              <a:rPr sz="1600" b="0" i="0">
                <a:solidFill>
                  <a:srgbClr val="9AA7B8"/>
                </a:solidFill>
                <a:latin typeface="Calibri"/>
              </a:rPr>
              <a:t>Live captions and scene description for people who are blind, deaf or hard of hearing — running entirely on your own hardware.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8920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250" b="0" i="0">
                <a:solidFill>
                  <a:srgbClr val="273142"/>
                </a:solidFill>
                <a:latin typeface="Calibri"/>
              </a:rPr>
              <a:t>Qualcomm Snapdragon AI Lab  ·  Build &amp; Present Challenge  ·  Python + ONNX Runtime, with a QNN / AI Hub NPU path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000" b="0" i="0">
                <a:solidFill>
                  <a:srgbClr val="273142"/>
                </a:solidFill>
                <a:latin typeface="Calibri"/>
              </a:rPr>
              <a:t>Snapdragoon — on-device accessibility co-pilot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8251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750"/>
              </a:spcAft>
            </a:pPr>
            <a:r>
              <a:rPr sz="1000" b="0" i="0">
                <a:solidFill>
                  <a:srgbClr val="273142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Aft>
                <a:spcPts val="960"/>
              </a:spcAft>
            </a:pPr>
            <a:r>
              <a:rPr sz="1200" b="1" i="0">
                <a:solidFill>
                  <a:srgbClr val="F5A623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77824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2F5F9"/>
                </a:solidFill>
                <a:latin typeface="Calibri"/>
              </a:rPr>
              <a:t>On-device AI demos are inaccessible by default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81328"/>
            <a:ext cx="1371600" cy="254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2084832"/>
            <a:ext cx="91440" cy="9144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6596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700" b="1">
                <a:solidFill>
                  <a:srgbClr val="F2F5F9"/>
                </a:solidFill>
                <a:latin typeface="Calibri"/>
              </a:rPr>
              <a:t>Captions nobody hears. </a:t>
            </a:r>
            <a:r>
              <a:rPr sz="1700">
                <a:solidFill>
                  <a:srgbClr val="9AA7B8"/>
                </a:solidFill>
                <a:latin typeface="Calibri"/>
              </a:rPr>
              <a:t>Live text that updates silently is invisible to a screen reader unless it is in a live region.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560320"/>
            <a:ext cx="91440" cy="9144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441448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700" b="1">
                <a:solidFill>
                  <a:srgbClr val="F2F5F9"/>
                </a:solidFill>
                <a:latin typeface="Calibri"/>
              </a:rPr>
              <a:t>A canvas is not an interface. </a:t>
            </a:r>
            <a:r>
              <a:rPr sz="1700">
                <a:solidFill>
                  <a:srgbClr val="9AA7B8"/>
                </a:solidFill>
                <a:latin typeface="Calibri"/>
              </a:rPr>
              <a:t>Scene descriptions drawn into a &lt;canvas&gt; have no text alternative at all.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035808"/>
            <a:ext cx="91440" cy="9144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916936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700" b="1">
                <a:solidFill>
                  <a:srgbClr val="F2F5F9"/>
                </a:solidFill>
                <a:latin typeface="Calibri"/>
              </a:rPr>
              <a:t>A div is not a button. </a:t>
            </a:r>
            <a:r>
              <a:rPr sz="1700">
                <a:solidFill>
                  <a:srgbClr val="9AA7B8"/>
                </a:solidFill>
                <a:latin typeface="Calibri"/>
              </a:rPr>
              <a:t>role="button" on a click handler does not give it a role, a name, a focus stop or a keyboard activation.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511296"/>
            <a:ext cx="91440" cy="9144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392424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700" b="1">
                <a:solidFill>
                  <a:srgbClr val="F2F5F9"/>
                </a:solidFill>
                <a:latin typeface="Calibri"/>
              </a:rPr>
              <a:t>Status for everyone except the person who needs it. </a:t>
            </a:r>
            <a:r>
              <a:rPr sz="1700">
                <a:solidFill>
                  <a:srgbClr val="9AA7B8"/>
                </a:solidFill>
                <a:latin typeface="Calibri"/>
              </a:rPr>
              <a:t>Errors and confirmations that only appear visually.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38928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400" b="0" i="1">
                <a:solidFill>
                  <a:srgbClr val="9AA7B8"/>
                </a:solidFill>
                <a:latin typeface="Calibri"/>
              </a:rPr>
              <a:t>This is not a rare edge case. It is the default outcome of building a visual demo, and it is invisible to automated checks that only look at contrast or ARIA attributes.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000" b="0" i="0">
                <a:solidFill>
                  <a:srgbClr val="273142"/>
                </a:solidFill>
                <a:latin typeface="Calibri"/>
              </a:rPr>
              <a:t>Snapdragoon — on-device accessibility co-pilot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65815" y="638251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750"/>
              </a:spcAft>
            </a:pPr>
            <a:r>
              <a:rPr sz="1000" b="0" i="0">
                <a:solidFill>
                  <a:srgbClr val="273142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Aft>
                <a:spcPts val="960"/>
              </a:spcAft>
            </a:pPr>
            <a:r>
              <a:rPr sz="1200" b="1" i="0">
                <a:solidFill>
                  <a:srgbClr val="F5A623"/>
                </a:solidFill>
                <a:latin typeface="Calibri"/>
              </a:rPr>
              <a:t>THE PROBLEM, EVIDENCED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77824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2F5F9"/>
                </a:solidFill>
                <a:latin typeface="Calibri"/>
              </a:rPr>
              <a:t>We measured it rather than assuming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81328"/>
            <a:ext cx="1371600" cy="254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73936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500" b="0" i="0">
                <a:solidFill>
                  <a:srgbClr val="9AA7B8"/>
                </a:solidFill>
                <a:latin typeface="Calibri"/>
              </a:rPr>
              <a:t>Two WCAG 2.2 AA audits of live on-device-AI pages, by rendered-DOM inspection, computed styles and real keyboard traversal.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76272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400" b="1" i="0">
                <a:solidFill>
                  <a:srgbClr val="F5A623"/>
                </a:solidFill>
                <a:latin typeface="Calibri"/>
              </a:rPr>
              <a:t>30 issues in total across the two pages:  9 Blocker  ·  5 Serious  ·  11 Moderate  ·  5 Minor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715768"/>
            <a:ext cx="201168" cy="4445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9576" y="26151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450" b="0" i="0">
                <a:solidFill>
                  <a:srgbClr val="F2F5F9"/>
                </a:solidFill>
                <a:latin typeface="Calibri"/>
              </a:rPr>
              <a:t>Zero headings in the page content — every title is a &lt;span&gt;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227832"/>
            <a:ext cx="201168" cy="4445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9576" y="31272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450" b="0" i="0">
                <a:solidFill>
                  <a:srgbClr val="F2F5F9"/>
                </a:solidFill>
                <a:latin typeface="Calibri"/>
              </a:rPr>
              <a:t>Primary journey is static text: &lt;main&gt; has 0 focusable elements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739896"/>
            <a:ext cx="201168" cy="4445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9576" y="363931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450" b="0" i="0">
                <a:solidFill>
                  <a:srgbClr val="F2F5F9"/>
                </a:solidFill>
                <a:latin typeface="Calibri"/>
              </a:rPr>
              <a:t>Closed off-canvas dialog is not inert; its Close button is tab stop #5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251960"/>
            <a:ext cx="201168" cy="4445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9576" y="415137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450" b="0" i="0">
                <a:solidFill>
                  <a:srgbClr val="F2F5F9"/>
                </a:solidFill>
                <a:latin typeface="Calibri"/>
              </a:rPr>
              <a:t>6 links and 2 buttons with no accessible name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764024"/>
            <a:ext cx="201168" cy="4445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79576" y="4663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450" b="0" i="0">
                <a:solidFill>
                  <a:srgbClr val="F2F5F9"/>
                </a:solidFill>
                <a:latin typeface="Calibri"/>
              </a:rPr>
              <a:t>No skip link — 35 tab stops from the header into 29 footer links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5276088"/>
            <a:ext cx="201168" cy="4445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576" y="517550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450" b="0" i="0">
                <a:solidFill>
                  <a:srgbClr val="F2F5F9"/>
                </a:solidFill>
                <a:latin typeface="Calibri"/>
              </a:rPr>
              <a:t>A feedback widget's close button is tabindex="-1": keyboard cannot dismiss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5230368"/>
            <a:ext cx="10637215" cy="731520"/>
          </a:xfrm>
          <a:prstGeom prst="rect">
            <a:avLst/>
          </a:prstGeom>
          <a:solidFill>
            <a:srgbClr val="151C28"/>
          </a:solidFill>
          <a:ln w="127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3272" y="5394960"/>
            <a:ext cx="101800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350" b="0" i="0">
                <a:solidFill>
                  <a:srgbClr val="F2F5F9"/>
                </a:solidFill>
                <a:latin typeface="Calibri"/>
              </a:rPr>
              <a:t>A sample of the Qualcomm AI Lab findings; both full audits are in the repository, and every category above has a corresponding regression test in ours.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38251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000" b="0" i="0">
                <a:solidFill>
                  <a:srgbClr val="273142"/>
                </a:solidFill>
                <a:latin typeface="Calibri"/>
              </a:rPr>
              <a:t>Snapdragoon — on-device accessibility co-pilot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65815" y="638251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750"/>
              </a:spcAft>
            </a:pPr>
            <a:r>
              <a:rPr sz="1000" b="0" i="0">
                <a:solidFill>
                  <a:srgbClr val="273142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Aft>
                <a:spcPts val="960"/>
              </a:spcAft>
            </a:pPr>
            <a:r>
              <a:rPr sz="1200" b="1" i="0">
                <a:solidFill>
                  <a:srgbClr val="F5A623"/>
                </a:solidFill>
                <a:latin typeface="Calibri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77824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2F5F9"/>
                </a:solidFill>
                <a:latin typeface="Calibri"/>
              </a:rPr>
              <a:t>Two capabilities, both on-device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81328"/>
            <a:ext cx="1371600" cy="254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38528"/>
            <a:ext cx="5029200" cy="2286000"/>
          </a:xfrm>
          <a:prstGeom prst="rect">
            <a:avLst/>
          </a:prstGeom>
          <a:solidFill>
            <a:srgbClr val="151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76272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2200" b="1" i="0">
                <a:solidFill>
                  <a:srgbClr val="F2F5F9"/>
                </a:solidFill>
                <a:latin typeface="Calibri"/>
              </a:rPr>
              <a:t>Live captions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79192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8000"/>
              </a:lnSpc>
              <a:spcAft>
                <a:spcPts val="768"/>
              </a:spcAft>
            </a:pPr>
            <a:r>
              <a:rPr sz="1400" b="0" i="0">
                <a:solidFill>
                  <a:srgbClr val="9AA7B8"/>
                </a:solidFill>
                <a:latin typeface="Calibri"/>
              </a:rPr>
              <a:t>Whisper Tiny (EN) — 5 s rolling window, greedy decode, KV-cached. Announced through a polite live region, with full history kept so it can be re-read.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938528"/>
            <a:ext cx="5029200" cy="2286000"/>
          </a:xfrm>
          <a:prstGeom prst="rect">
            <a:avLst/>
          </a:prstGeom>
          <a:solidFill>
            <a:srgbClr val="151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76272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2200" b="1" i="0">
                <a:solidFill>
                  <a:srgbClr val="F2F5F9"/>
                </a:solidFill>
                <a:latin typeface="Calibri"/>
              </a:rPr>
              <a:t>Scene description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679192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8000"/>
              </a:lnSpc>
              <a:spcAft>
                <a:spcPts val="768"/>
              </a:spcAft>
            </a:pPr>
            <a:r>
              <a:rPr sz="1400" b="0" i="0">
                <a:solidFill>
                  <a:srgbClr val="9AA7B8"/>
                </a:solidFill>
                <a:latin typeface="Calibri"/>
              </a:rPr>
              <a:t>MobileNet V2 (ImageNet-1k) — top-3 classes with confidences, as real text in the DOM, not drawn into a canvas. Works on a still image, a file, or a live camera.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57784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450" b="0" i="0">
                <a:solidFill>
                  <a:srgbClr val="9AA7B8"/>
                </a:solidFill>
                <a:latin typeface="Calibri"/>
              </a:rPr>
              <a:t>No account. No network call. No data leaves the device. The app works with no model files at all — and says so, rather than faking output.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000" b="0" i="0">
                <a:solidFill>
                  <a:srgbClr val="273142"/>
                </a:solidFill>
                <a:latin typeface="Calibri"/>
              </a:rPr>
              <a:t>Snapdragoon — on-device accessibility co-pilot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65815" y="638251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750"/>
              </a:spcAft>
            </a:pPr>
            <a:r>
              <a:rPr sz="1000" b="0" i="0">
                <a:solidFill>
                  <a:srgbClr val="273142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Aft>
                <a:spcPts val="960"/>
              </a:spcAft>
            </a:pPr>
            <a:r>
              <a:rPr sz="1200" b="1" i="0">
                <a:solidFill>
                  <a:srgbClr val="F5A623"/>
                </a:solidFill>
                <a:latin typeface="Calibri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77824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2F5F9"/>
                </a:solidFill>
                <a:latin typeface="Calibri"/>
              </a:rPr>
              <a:t>One interface, three backends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81328"/>
            <a:ext cx="1371600" cy="254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55648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500" b="0" i="0">
                <a:solidFill>
                  <a:srgbClr val="9AA7B8"/>
                </a:solidFill>
                <a:latin typeface="Calibri"/>
              </a:rPr>
              <a:t>The central design decision: the app never imports a runtime. It talks to an Engine, and the Engine is configuration.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22576"/>
            <a:ext cx="10607040" cy="786384"/>
          </a:xfrm>
          <a:prstGeom prst="rect">
            <a:avLst/>
          </a:prstGeom>
          <a:solidFill>
            <a:srgbClr val="151C28"/>
          </a:solidFill>
          <a:ln w="127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0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800" b="1" i="0">
                <a:solidFill>
                  <a:srgbClr val="F2F5F9"/>
                </a:solidFill>
                <a:latin typeface="Consolas"/>
              </a:rPr>
              <a:t>Engine  (abstract)   ·   transcribe()  ·   classify()  ·   describe()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38144"/>
            <a:ext cx="3291840" cy="2103120"/>
          </a:xfrm>
          <a:prstGeom prst="rect">
            <a:avLst/>
          </a:prstGeom>
          <a:solidFill>
            <a:srgbClr val="151C28"/>
          </a:solidFill>
          <a:ln w="12700">
            <a:solidFill>
              <a:srgbClr val="9AA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3621024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700" b="1" i="0">
                <a:solidFill>
                  <a:srgbClr val="F2F5F9"/>
                </a:solidFill>
                <a:latin typeface="Calibri"/>
              </a:rPr>
              <a:t>DemoEngine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" y="3913632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100" b="1" i="0">
                <a:solidFill>
                  <a:srgbClr val="9AA7B8"/>
                </a:solidFill>
                <a:latin typeface="Calibri"/>
              </a:rPr>
              <a:t>runs anywhere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" y="42062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732"/>
              </a:spcAft>
            </a:pPr>
            <a:r>
              <a:rPr sz="1250" b="0" i="0">
                <a:solidFill>
                  <a:srgbClr val="9AA7B8"/>
                </a:solidFill>
                <a:latin typeface="Calibri"/>
              </a:rPr>
              <a:t>No model files. Self-labelling: every caption it emits is prefixed so it can never be mistaken for inference.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3438144"/>
            <a:ext cx="3291840" cy="2103120"/>
          </a:xfrm>
          <a:prstGeom prst="rect">
            <a:avLst/>
          </a:prstGeom>
          <a:solidFill>
            <a:srgbClr val="151C28"/>
          </a:solidFill>
          <a:ln w="12700">
            <a:solidFill>
              <a:srgbClr val="3DD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4296" y="3621024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700" b="1" i="0">
                <a:solidFill>
                  <a:srgbClr val="F2F5F9"/>
                </a:solidFill>
                <a:latin typeface="Calibri"/>
              </a:rPr>
              <a:t>OnnxEngine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913632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100" b="1" i="0">
                <a:solidFill>
                  <a:srgbClr val="3DD6C0"/>
                </a:solidFill>
                <a:latin typeface="Calibri"/>
              </a:rPr>
              <a:t>VERIFIED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54296" y="42062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732"/>
              </a:spcAft>
            </a:pPr>
            <a:r>
              <a:rPr sz="1250" b="0" i="0">
                <a:solidFill>
                  <a:srgbClr val="9AA7B8"/>
                </a:solidFill>
                <a:latin typeface="Calibri"/>
              </a:rPr>
              <a:t>ONNX Runtime on CPU. Whisper + MobileNet, the development and CI baseline.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2440" y="3438144"/>
            <a:ext cx="3291840" cy="2103120"/>
          </a:xfrm>
          <a:prstGeom prst="rect">
            <a:avLst/>
          </a:prstGeom>
          <a:solidFill>
            <a:srgbClr val="151C28"/>
          </a:solidFill>
          <a:ln w="1270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1896" y="3621024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700" b="1" i="0">
                <a:solidFill>
                  <a:srgbClr val="F2F5F9"/>
                </a:solidFill>
                <a:latin typeface="Calibri"/>
              </a:rPr>
              <a:t>QualcommEngine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3913632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100" b="1" i="0">
                <a:solidFill>
                  <a:srgbClr val="FF6B6B"/>
                </a:solidFill>
                <a:latin typeface="Calibri"/>
              </a:rPr>
              <a:t>unverified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1896" y="42062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732"/>
              </a:spcAft>
            </a:pPr>
            <a:r>
              <a:rPr sz="1250" b="0" i="0">
                <a:solidFill>
                  <a:srgbClr val="9AA7B8"/>
                </a:solidFill>
                <a:latin typeface="Calibri"/>
              </a:rPr>
              <a:t>QNN / Qualcomm AI Hub / LiteRT. Raises QualcommUnavailable off-Snapdragon rather than silently falling back.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742432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450" b="0" i="1">
                <a:solidFill>
                  <a:srgbClr val="9AA7B8"/>
                </a:solidFill>
                <a:latin typeface="Calibri"/>
              </a:rPr>
              <a:t>Mac → Snapdragon is a config change, not a rewrite. That is what let this be built and verified without the target hardware.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38251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000" b="0" i="0">
                <a:solidFill>
                  <a:srgbClr val="273142"/>
                </a:solidFill>
                <a:latin typeface="Calibri"/>
              </a:rPr>
              <a:t>Snapdragoon — on-device accessibility co-pilot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65815" y="638251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750"/>
              </a:spcAft>
            </a:pPr>
            <a:r>
              <a:rPr sz="1000" b="0" i="0">
                <a:solidFill>
                  <a:srgbClr val="273142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Aft>
                <a:spcPts val="960"/>
              </a:spcAft>
            </a:pPr>
            <a:r>
              <a:rPr sz="1200" b="1" i="0">
                <a:solidFill>
                  <a:srgbClr val="F5A623"/>
                </a:solidFill>
                <a:latin typeface="Calibri"/>
              </a:rPr>
              <a:t>TECHNICAL DEPTH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77824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2F5F9"/>
                </a:solidFill>
                <a:latin typeface="Calibri"/>
              </a:rPr>
              <a:t>The audio front-end is part of the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81328"/>
            <a:ext cx="1371600" cy="254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2121408"/>
            <a:ext cx="91440" cy="9144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02536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700" b="1">
                <a:solidFill>
                  <a:srgbClr val="F2F5F9"/>
                </a:solidFill>
                <a:latin typeface="Calibri"/>
              </a:rPr>
              <a:t>Whisper's expected mel spectrogram is reproduced exactly. </a:t>
            </a:r>
            <a:r>
              <a:rPr sz="1700">
                <a:solidFill>
                  <a:srgbClr val="9AA7B8"/>
                </a:solidFill>
                <a:latin typeface="Calibri"/>
              </a:rPr>
              <a:t>Slaney-style mel filterbank with area normalisation, and a periodic Hann window — not a symmetric one.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3054096"/>
            <a:ext cx="91440" cy="9144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935224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700" b="1">
                <a:solidFill>
                  <a:srgbClr val="F2F5F9"/>
                </a:solidFill>
                <a:latin typeface="Calibri"/>
              </a:rPr>
              <a:t>Power spectrum accumulated in float64. </a:t>
            </a:r>
            <a:r>
              <a:rPr sz="1700">
                <a:solidFill>
                  <a:srgbClr val="9AA7B8"/>
                </a:solidFill>
                <a:latin typeface="Calibri"/>
              </a:rPr>
              <a:t>float32 silently overflows at 30 s of input and returns NaN, which looks like a model failure rather than a DSP bug.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986784"/>
            <a:ext cx="91440" cy="9144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867912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700" b="1">
                <a:solidFill>
                  <a:srgbClr val="F2F5F9"/>
                </a:solidFill>
                <a:latin typeface="Calibri"/>
              </a:rPr>
              <a:t>Normalisation was measured, not assumed. </a:t>
            </a:r>
            <a:r>
              <a:rPr sz="1700">
                <a:solidFill>
                  <a:srgbClr val="9AA7B8"/>
                </a:solidFill>
                <a:latin typeface="Calibri"/>
              </a:rPr>
              <a:t>Filterbank area spread across bands: 7.96× un-normalised, 1.16× with Slaney normalisation.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919472"/>
            <a:ext cx="91440" cy="9144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80060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700" b="1">
                <a:solidFill>
                  <a:srgbClr val="F2F5F9"/>
                </a:solidFill>
                <a:latin typeface="Calibri"/>
              </a:rPr>
              <a:t>Short windows are refused, in content seconds — not padding ratio. </a:t>
            </a:r>
            <a:r>
              <a:rPr sz="1700">
                <a:solidFill>
                  <a:srgbClr val="9AA7B8"/>
                </a:solidFill>
                <a:latin typeface="Calibri"/>
              </a:rPr>
              <a:t>5 s padded to 30 s is 83% padding and transcribes correctly. 1 s is 97% padding and hallucinates. The engine knows its own padding, so the gate lives there.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504688"/>
            <a:ext cx="10637215" cy="713232"/>
          </a:xfrm>
          <a:prstGeom prst="rect">
            <a:avLst/>
          </a:prstGeom>
          <a:solidFill>
            <a:srgbClr val="151C28"/>
          </a:solidFill>
          <a:ln w="127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5705856"/>
            <a:ext cx="101800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400" b="0" i="0">
                <a:solidFill>
                  <a:srgbClr val="F2F5F9"/>
                </a:solidFill>
                <a:latin typeface="Calibri"/>
              </a:rPr>
              <a:t>A wrong front-end still produces fluent, confident, wrong text — so it is checked against a known transcript, every run.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8251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000" b="0" i="0">
                <a:solidFill>
                  <a:srgbClr val="273142"/>
                </a:solidFill>
                <a:latin typeface="Calibri"/>
              </a:rPr>
              <a:t>Snapdragoon — on-device accessibility co-pilot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65815" y="638251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750"/>
              </a:spcAft>
            </a:pPr>
            <a:r>
              <a:rPr sz="1000" b="0" i="0">
                <a:solidFill>
                  <a:srgbClr val="273142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Aft>
                <a:spcPts val="960"/>
              </a:spcAft>
            </a:pPr>
            <a:r>
              <a:rPr sz="1200" b="1" i="0">
                <a:solidFill>
                  <a:srgbClr val="F5A623"/>
                </a:solidFill>
                <a:latin typeface="Calibri"/>
              </a:rPr>
              <a:t>TECHNICAL DEPTH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77824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2F5F9"/>
                </a:solidFill>
                <a:latin typeface="Calibri"/>
              </a:rPr>
              <a:t>Seven ways a Whisper ONNX export fails silently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81328"/>
            <a:ext cx="1371600" cy="254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55648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500" b="0" i="0">
                <a:solidFill>
                  <a:srgbClr val="9AA7B8"/>
                </a:solidFill>
                <a:latin typeface="Calibri"/>
              </a:rPr>
              <a:t>None of these raise. Each produces plausible output that is quietly wrong, which is why every one is now a named test.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67712"/>
            <a:ext cx="274320" cy="27432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299716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  <a:spcAft>
                <a:spcPts val="750"/>
              </a:spcAft>
            </a:pPr>
            <a:r>
              <a:rPr sz="1200" b="1" i="0">
                <a:solidFill>
                  <a:srgbClr val="0C1018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52728" y="22585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708"/>
              </a:spcAft>
            </a:pPr>
            <a:r>
              <a:rPr sz="1300" b="0" i="0">
                <a:solidFill>
                  <a:srgbClr val="F2F5F9"/>
                </a:solidFill>
                <a:latin typeface="Calibri"/>
              </a:rPr>
              <a:t>get_inputs()[0] ordering — A different export order feeds the encoder the token ids. No error, total garbage.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802636"/>
            <a:ext cx="274320" cy="274320"/>
          </a:xfrm>
          <a:prstGeom prst="rect">
            <a:avLst/>
          </a:prstGeom>
          <a:solidFill>
            <a:srgbClr val="3DD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  <a:spcAft>
                <a:spcPts val="750"/>
              </a:spcAft>
            </a:pPr>
            <a:r>
              <a:rPr sz="1200" b="1" i="0">
                <a:solidFill>
                  <a:srgbClr val="0C1018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279349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708"/>
              </a:spcAft>
            </a:pPr>
            <a:r>
              <a:rPr sz="1300" b="0" i="0">
                <a:solidFill>
                  <a:srgbClr val="F2F5F9"/>
                </a:solidFill>
                <a:latin typeface="Calibri"/>
              </a:rPr>
              <a:t>present.N.* vs past_key_values.N.* — Same tensors, two names. Matched naively, the KV cache is never used: every step re-decodes from empty context — fluent, degenerate repetition.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337560"/>
            <a:ext cx="274320" cy="27432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369564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  <a:spcAft>
                <a:spcPts val="750"/>
              </a:spcAft>
            </a:pPr>
            <a:r>
              <a:rPr sz="1200" b="1" i="0">
                <a:solidFill>
                  <a:srgbClr val="0C1018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332841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708"/>
              </a:spcAft>
            </a:pPr>
            <a:r>
              <a:rPr sz="1300" b="0" i="0">
                <a:solidFill>
                  <a:srgbClr val="F2F5F9"/>
                </a:solidFill>
                <a:latin typeface="Calibri"/>
              </a:rPr>
              <a:t>Encoder present on the cached path — Returns a (0, 6, 1, 64) zero-batch placeholder. Feed it back and encoder attention dies from token two: right for a few words, then stops for no visible reason.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872484"/>
            <a:ext cx="274320" cy="274320"/>
          </a:xfrm>
          <a:prstGeom prst="rect">
            <a:avLst/>
          </a:prstGeom>
          <a:solidFill>
            <a:srgbClr val="3DD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904488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  <a:spcAft>
                <a:spcPts val="750"/>
              </a:spcAft>
            </a:pPr>
            <a:r>
              <a:rPr sz="1200" b="1" i="0">
                <a:solidFill>
                  <a:srgbClr val="0C1018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2728" y="38633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708"/>
              </a:spcAft>
            </a:pPr>
            <a:r>
              <a:rPr sz="1300" b="0" i="0">
                <a:solidFill>
                  <a:srgbClr val="F2F5F9"/>
                </a:solidFill>
                <a:latin typeface="Calibri"/>
              </a:rPr>
              <a:t>Symbolic dims in a declared shape — ['batch_size', 6, 'past_seq', 64] filtered to ints becomes [6, 64] and reads as heads=64.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4407408"/>
            <a:ext cx="274320" cy="27432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439412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  <a:spcAft>
                <a:spcPts val="750"/>
              </a:spcAft>
            </a:pPr>
            <a:r>
              <a:rPr sz="1200" b="1" i="0">
                <a:solidFill>
                  <a:srgbClr val="0C1018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2728" y="439826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708"/>
              </a:spcAft>
            </a:pPr>
            <a:r>
              <a:rPr sz="1300" b="0" i="0">
                <a:solidFill>
                  <a:srgbClr val="F2F5F9"/>
                </a:solidFill>
                <a:latin typeface="Calibri"/>
              </a:rPr>
              <a:t>logits axis order — Exports differ between (b, seq, vocab) and (b, vocab, seq). Resolved against declared vocab_size.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942332"/>
            <a:ext cx="274320" cy="274320"/>
          </a:xfrm>
          <a:prstGeom prst="rect">
            <a:avLst/>
          </a:prstGeom>
          <a:solidFill>
            <a:srgbClr val="3DD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974336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  <a:spcAft>
                <a:spcPts val="750"/>
              </a:spcAft>
            </a:pPr>
            <a:r>
              <a:rPr sz="1200" b="1" i="0">
                <a:solidFill>
                  <a:srgbClr val="0C1018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52728" y="493318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708"/>
              </a:spcAft>
            </a:pPr>
            <a:r>
              <a:rPr sz="1300" b="0" i="0">
                <a:solidFill>
                  <a:srgbClr val="F2F5F9"/>
                </a:solidFill>
                <a:latin typeface="Calibri"/>
              </a:rPr>
              <a:t>Hard-coded special-token ids — SOT/EOT differ per checkpoint — and tiktoken.encode("&lt;|startoftranscript|&gt;")[0] is 27, not the special id.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5477256"/>
            <a:ext cx="274320" cy="27432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5092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  <a:spcAft>
                <a:spcPts val="750"/>
              </a:spcAft>
            </a:pPr>
            <a:r>
              <a:rPr sz="1200" b="1" i="0">
                <a:solidFill>
                  <a:srgbClr val="0C1018"/>
                </a:solidFill>
                <a:latin typeface="Calibri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2728" y="546811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708"/>
              </a:spcAft>
            </a:pPr>
            <a:r>
              <a:rPr sz="1300" b="0" i="0">
                <a:solidFill>
                  <a:srgbClr val="F2F5F9"/>
                </a:solidFill>
                <a:latin typeface="Calibri"/>
              </a:rPr>
              <a:t>&lt;|en|&gt; on an English-only checkpoint — Costs accuracy for a token with no meaning there. Switched on is_multilingual from config.json.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38251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000" b="0" i="0">
                <a:solidFill>
                  <a:srgbClr val="273142"/>
                </a:solidFill>
                <a:latin typeface="Calibri"/>
              </a:rPr>
              <a:t>Snapdragoon — on-device accessibility co-pilot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65815" y="638251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750"/>
              </a:spcAft>
            </a:pPr>
            <a:r>
              <a:rPr sz="1000" b="0" i="0">
                <a:solidFill>
                  <a:srgbClr val="273142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Aft>
                <a:spcPts val="960"/>
              </a:spcAft>
            </a:pPr>
            <a:r>
              <a:rPr sz="1200" b="1" i="0">
                <a:solidFill>
                  <a:srgbClr val="F5A623"/>
                </a:solidFill>
                <a:latin typeface="Calibri"/>
              </a:rPr>
              <a:t>THE DIFFERENTIATOR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77824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2F5F9"/>
                </a:solidFill>
                <a:latin typeface="Calibri"/>
              </a:rPr>
              <a:t>Accessibility as a contract, not a checklist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81328"/>
            <a:ext cx="1371600" cy="254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5681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3DD6C0"/>
                </a:solidFill>
                <a:latin typeface="Calibri"/>
              </a:rPr>
              <a:t>11/11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23744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90"/>
              </a:spcAft>
            </a:pPr>
            <a:r>
              <a:rPr sz="1250" b="0" i="0">
                <a:solidFill>
                  <a:srgbClr val="9AA7B8"/>
                </a:solidFill>
                <a:latin typeface="Calibri"/>
              </a:rPr>
              <a:t>automated a11y gates pass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95681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5A623"/>
                </a:solidFill>
                <a:latin typeface="Calibr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2523744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90"/>
              </a:spcAft>
            </a:pPr>
            <a:r>
              <a:rPr sz="1250" b="0" i="0">
                <a:solidFill>
                  <a:srgbClr val="9AA7B8"/>
                </a:solidFill>
                <a:latin typeface="Calibri"/>
              </a:rPr>
              <a:t>assertions in the web test suite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0" y="195681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5A623"/>
                </a:solidFill>
                <a:latin typeface="Calibri"/>
              </a:rPr>
              <a:t>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2523744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90"/>
              </a:spcAft>
            </a:pPr>
            <a:r>
              <a:rPr sz="1250" b="0" i="0">
                <a:solidFill>
                  <a:srgbClr val="9AA7B8"/>
                </a:solidFill>
                <a:latin typeface="Calibri"/>
              </a:rPr>
              <a:t>issues found auditing 2 live AI-lab pages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80" y="195681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3DD6C0"/>
                </a:solidFill>
                <a:latin typeface="Calibr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2523744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90"/>
              </a:spcAft>
            </a:pPr>
            <a:r>
              <a:rPr sz="1250" b="0" i="0">
                <a:solidFill>
                  <a:srgbClr val="9AA7B8"/>
                </a:solidFill>
                <a:latin typeface="Calibri"/>
              </a:rPr>
              <a:t>suppressed focus outlines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346704"/>
            <a:ext cx="91440" cy="9144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227832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500" b="0" i="0">
                <a:solidFill>
                  <a:srgbClr val="F2F5F9"/>
                </a:solidFill>
                <a:latin typeface="Calibri"/>
              </a:rPr>
              <a:t>A skip link is the first focusable element — and its landing target keeps its outline.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877056"/>
            <a:ext cx="91440" cy="9144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758184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500" b="0" i="0">
                <a:solidFill>
                  <a:srgbClr val="F2F5F9"/>
                </a:solidFill>
                <a:latin typeface="Calibri"/>
              </a:rPr>
              <a:t>Captions go to a polite live region, so they never interrupt; the full transcript stays re-readable.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4407408"/>
            <a:ext cx="91440" cy="9144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288536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500" b="0" i="0">
                <a:solidFill>
                  <a:srgbClr val="F2F5F9"/>
                </a:solidFill>
                <a:latin typeface="Calibri"/>
              </a:rPr>
              <a:t>Every control is a real &lt;button&gt;, operable by keyboard alone. No role="button" on a div.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937760"/>
            <a:ext cx="91440" cy="9144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818888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500" b="0" i="0">
                <a:solidFill>
                  <a:srgbClr val="F2F5F9"/>
                </a:solidFill>
                <a:latin typeface="Calibri"/>
              </a:rPr>
              <a:t>Scene output is real text in the DOM, so it is selectable, zoomable and reachable.</a:t>
            </a:r>
          </a:p>
        </p:txBody>
      </p:sp>
      <p:sp>
        <p:nvSpPr>
          <p:cNvPr id="22" name="Oval 21"/>
          <p:cNvSpPr/>
          <p:nvPr/>
        </p:nvSpPr>
        <p:spPr>
          <a:xfrm>
            <a:off x="777240" y="5468112"/>
            <a:ext cx="91440" cy="9144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5349240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500" b="0" i="0">
                <a:solidFill>
                  <a:srgbClr val="F2F5F9"/>
                </a:solidFill>
                <a:latin typeface="Calibri"/>
              </a:rPr>
              <a:t>Contrast ≥ 4.5:1 everywhere, and the live region respects prefers-reduced-motion.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5687568"/>
            <a:ext cx="10637215" cy="566928"/>
          </a:xfrm>
          <a:prstGeom prst="rect">
            <a:avLst/>
          </a:prstGeom>
          <a:solidFill>
            <a:srgbClr val="151C28"/>
          </a:solidFill>
          <a:ln w="12700">
            <a:solidFill>
              <a:srgbClr val="3DD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5833872"/>
            <a:ext cx="101800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350" b="0" i="0">
                <a:solidFill>
                  <a:srgbClr val="F2F5F9"/>
                </a:solidFill>
                <a:latin typeface="Calibri"/>
              </a:rPr>
              <a:t>Regression-tested, not asserted: outline: none appears nowhere in the codebase, and a test fails if it ever does.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38251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000" b="0" i="0">
                <a:solidFill>
                  <a:srgbClr val="273142"/>
                </a:solidFill>
                <a:latin typeface="Calibri"/>
              </a:rPr>
              <a:t>Snapdragoon — on-device accessibility co-pilot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65815" y="638251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750"/>
              </a:spcAft>
            </a:pPr>
            <a:r>
              <a:rPr sz="1000" b="0" i="0">
                <a:solidFill>
                  <a:srgbClr val="273142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Aft>
                <a:spcPts val="960"/>
              </a:spcAft>
            </a:pPr>
            <a:r>
              <a:rPr sz="1200" b="1" i="0">
                <a:solidFill>
                  <a:srgbClr val="F5A623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77824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2F5F9"/>
                </a:solidFill>
                <a:latin typeface="Calibri"/>
              </a:rPr>
              <a:t>Measured on real audio, on a laptop CPU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81328"/>
            <a:ext cx="1371600" cy="254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F5A623"/>
                </a:solidFill>
                <a:latin typeface="Calibri"/>
              </a:rPr>
              <a:t>190 ms–400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871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90"/>
              </a:spcAft>
            </a:pPr>
            <a:r>
              <a:rPr sz="1250" b="0" i="0">
                <a:solidFill>
                  <a:srgbClr val="9AA7B8"/>
                </a:solidFill>
                <a:latin typeface="Calibri"/>
              </a:rPr>
              <a:t>Whisper Tiny, 5 s window
12x–26x real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19202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3DD6C0"/>
                </a:solidFill>
                <a:latin typeface="Calibri"/>
              </a:rPr>
              <a:t>5.3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248716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90"/>
              </a:spcAft>
            </a:pPr>
            <a:r>
              <a:rPr sz="1250" b="0" i="0">
                <a:solidFill>
                  <a:srgbClr val="9AA7B8"/>
                </a:solidFill>
                <a:latin typeface="Calibri"/>
              </a:rPr>
              <a:t>MobileNet V2, 640×480
189 fps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19202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3DD6C0"/>
                </a:solidFill>
                <a:latin typeface="Calibri"/>
              </a:rPr>
              <a:t>134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248716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90"/>
              </a:spcAft>
            </a:pPr>
            <a:r>
              <a:rPr sz="1250" b="0" i="0">
                <a:solidFill>
                  <a:srgbClr val="9AA7B8"/>
                </a:solidFill>
                <a:latin typeface="Calibri"/>
              </a:rPr>
              <a:t>tests passing, weights present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182112"/>
            <a:ext cx="10607040" cy="1170432"/>
          </a:xfrm>
          <a:prstGeom prst="rect">
            <a:avLst/>
          </a:prstGeom>
          <a:solidFill>
            <a:srgbClr val="151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3272" y="332841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350" b="1" i="0">
                <a:solidFill>
                  <a:srgbClr val="F5A623"/>
                </a:solidFill>
                <a:latin typeface="Calibri"/>
              </a:rPr>
              <a:t>Where the time goes  (measured, not asserted)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" y="3657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300" b="0" i="0">
                <a:solidFill>
                  <a:srgbClr val="9AA7B8"/>
                </a:solidFill>
                <a:latin typeface="Calibri"/>
              </a:rPr>
              <a:t>Encoder forward  125 ms — a fixed cost of the graph, identical in every environment tested.        Decode loop  ~50 ms / 12 tokens — dominated by re-feeding the encoder KV cache, which is a property of the export.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76072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350" b="0" i="1">
                <a:solidFill>
                  <a:srgbClr val="9AA7B8"/>
                </a:solidFill>
                <a:latin typeface="Calibri"/>
              </a:rPr>
              <a:t>The range is published rather than the best run. Two Python environments on this one machine — same onnxruntime wheel, same session options — gave 194 ms and 402 ms for identical audio and an identical transcript, so the benchmark now records the numeric stack next to every number.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8251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000" b="0" i="0">
                <a:solidFill>
                  <a:srgbClr val="273142"/>
                </a:solidFill>
                <a:latin typeface="Calibri"/>
              </a:rPr>
              <a:t>Snapdragoon — on-device accessibility co-pilot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65815" y="638251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750"/>
              </a:spcAft>
            </a:pPr>
            <a:r>
              <a:rPr sz="1000" b="0" i="0">
                <a:solidFill>
                  <a:srgbClr val="273142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Aft>
                <a:spcPts val="960"/>
              </a:spcAft>
            </a:pPr>
            <a:r>
              <a:rPr sz="1200" b="1" i="0">
                <a:solidFill>
                  <a:srgbClr val="F5A623"/>
                </a:solidFill>
                <a:latin typeface="Calibri"/>
              </a:rPr>
              <a:t>CORRECTNESS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77824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2F5F9"/>
                </a:solidFill>
                <a:latin typeface="Calibri"/>
              </a:rPr>
              <a:t>Fast and wrong is worthless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81328"/>
            <a:ext cx="1371600" cy="254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56816"/>
            <a:ext cx="10607040" cy="1298448"/>
          </a:xfrm>
          <a:prstGeom prst="rect">
            <a:avLst/>
          </a:prstGeom>
          <a:solidFill>
            <a:srgbClr val="151C28"/>
          </a:solidFill>
          <a:ln w="12700">
            <a:solidFill>
              <a:srgbClr val="3DD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12140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300" b="1" i="0">
                <a:solidFill>
                  <a:srgbClr val="3DD6C0"/>
                </a:solidFill>
                <a:latin typeface="Calibri"/>
              </a:rPr>
              <a:t>Speech, verified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1401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600" b="0" i="1">
                <a:solidFill>
                  <a:srgbClr val="F2F5F9"/>
                </a:solidFill>
                <a:latin typeface="Calibri"/>
              </a:rPr>
              <a:t>“And so my fellow Americans ask not what your country can do for you, ask what you can do for your country.”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93008"/>
            <a:ext cx="10607040" cy="1298448"/>
          </a:xfrm>
          <a:prstGeom prst="rect">
            <a:avLst/>
          </a:prstGeom>
          <a:solidFill>
            <a:srgbClr val="151C28"/>
          </a:solidFill>
          <a:ln w="12700">
            <a:solidFill>
              <a:srgbClr val="3DD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657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300" b="1" i="0">
                <a:solidFill>
                  <a:srgbClr val="3DD6C0"/>
                </a:solidFill>
                <a:latin typeface="Calibri"/>
              </a:rPr>
              <a:t>Vision, verified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9502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600" b="0" i="0">
                <a:solidFill>
                  <a:srgbClr val="F2F5F9"/>
                </a:solidFill>
                <a:latin typeface="Calibri"/>
              </a:rPr>
              <a:t>A photograph of a white Golden Retriever →  Samoyed 59.0%  /  Pomeranian 10.2%  /  West Highland white terrier 6.5%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742432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400" b="0" i="0">
                <a:solidFill>
                  <a:srgbClr val="9AA7B8"/>
                </a:solidFill>
                <a:latin typeface="Calibri"/>
              </a:rPr>
              <a:t>Both run on every clean clone via scripts/fetch_models.py --verify, which checks the transcript and the classification rather than merely confirming the files downloaded.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000" b="0" i="0">
                <a:solidFill>
                  <a:srgbClr val="273142"/>
                </a:solidFill>
                <a:latin typeface="Calibri"/>
              </a:rPr>
              <a:t>Snapdragoon — on-device accessibility co-pilot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65815" y="638251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750"/>
              </a:spcAft>
            </a:pPr>
            <a:r>
              <a:rPr sz="1000" b="0" i="0">
                <a:solidFill>
                  <a:srgbClr val="273142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Aft>
                <a:spcPts val="960"/>
              </a:spcAft>
            </a:pPr>
            <a:r>
              <a:rPr sz="1200" b="1" i="0">
                <a:solidFill>
                  <a:srgbClr val="F5A623"/>
                </a:solidFill>
                <a:latin typeface="Calibri"/>
              </a:rPr>
              <a:t>THE HONEST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77824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2F5F9"/>
                </a:solidFill>
                <a:latin typeface="Calibri"/>
              </a:rPr>
              <a:t>What is verified,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81328"/>
            <a:ext cx="1371600" cy="254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500" b="0" i="1">
                <a:solidFill>
                  <a:srgbClr val="9AA7B8"/>
                </a:solidFill>
                <a:latin typeface="Calibri"/>
              </a:rPr>
              <a:t>This is the slide that decides whether a technical reviewer trusts everything else on the deck.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67712"/>
            <a:ext cx="5120640" cy="3749039"/>
          </a:xfrm>
          <a:prstGeom prst="rect">
            <a:avLst/>
          </a:prstGeom>
          <a:solidFill>
            <a:srgbClr val="151C28"/>
          </a:solidFill>
          <a:ln w="12700">
            <a:solidFill>
              <a:srgbClr val="3DD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468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400" b="1" i="0">
                <a:solidFill>
                  <a:srgbClr val="3DD6C0"/>
                </a:solidFill>
                <a:latin typeface="Calibri"/>
              </a:rPr>
              <a:t>VERIFIED</a:t>
            </a:r>
          </a:p>
        </p:txBody>
      </p:sp>
      <p:sp>
        <p:nvSpPr>
          <p:cNvPr id="9" name="Oval 8"/>
          <p:cNvSpPr/>
          <p:nvPr/>
        </p:nvSpPr>
        <p:spPr>
          <a:xfrm>
            <a:off x="1051560" y="2962656"/>
            <a:ext cx="91440" cy="91440"/>
          </a:xfrm>
          <a:prstGeom prst="ellipse">
            <a:avLst/>
          </a:prstGeom>
          <a:solidFill>
            <a:srgbClr val="3DD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2843784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350" b="0" i="0">
                <a:solidFill>
                  <a:srgbClr val="F2F5F9"/>
                </a:solidFill>
                <a:latin typeface="Calibri"/>
              </a:rPr>
              <a:t>Both models run and are correct</a:t>
            </a:r>
          </a:p>
        </p:txBody>
      </p:sp>
      <p:sp>
        <p:nvSpPr>
          <p:cNvPr id="11" name="Oval 10"/>
          <p:cNvSpPr/>
          <p:nvPr/>
        </p:nvSpPr>
        <p:spPr>
          <a:xfrm>
            <a:off x="1051560" y="3438144"/>
            <a:ext cx="91440" cy="91440"/>
          </a:xfrm>
          <a:prstGeom prst="ellipse">
            <a:avLst/>
          </a:prstGeom>
          <a:solidFill>
            <a:srgbClr val="3DD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3319272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350" b="0" i="0">
                <a:solidFill>
                  <a:srgbClr val="F2F5F9"/>
                </a:solidFill>
                <a:latin typeface="Calibri"/>
              </a:rPr>
              <a:t>Full test suite, from a clean clone</a:t>
            </a:r>
          </a:p>
        </p:txBody>
      </p:sp>
      <p:sp>
        <p:nvSpPr>
          <p:cNvPr id="13" name="Oval 12"/>
          <p:cNvSpPr/>
          <p:nvPr/>
        </p:nvSpPr>
        <p:spPr>
          <a:xfrm>
            <a:off x="1051560" y="3913632"/>
            <a:ext cx="91440" cy="91440"/>
          </a:xfrm>
          <a:prstGeom prst="ellipse">
            <a:avLst/>
          </a:prstGeom>
          <a:solidFill>
            <a:srgbClr val="3DD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379476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350" b="0" i="0">
                <a:solidFill>
                  <a:srgbClr val="F2F5F9"/>
                </a:solidFill>
                <a:latin typeface="Calibri"/>
              </a:rPr>
              <a:t>Web app, SSE caption stream, accessible UI</a:t>
            </a:r>
          </a:p>
        </p:txBody>
      </p:sp>
      <p:sp>
        <p:nvSpPr>
          <p:cNvPr id="15" name="Oval 14"/>
          <p:cNvSpPr/>
          <p:nvPr/>
        </p:nvSpPr>
        <p:spPr>
          <a:xfrm>
            <a:off x="1051560" y="4389120"/>
            <a:ext cx="91440" cy="91440"/>
          </a:xfrm>
          <a:prstGeom prst="ellipse">
            <a:avLst/>
          </a:prstGeom>
          <a:solidFill>
            <a:srgbClr val="3DD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25880" y="4270248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350" b="0" i="0">
                <a:solidFill>
                  <a:srgbClr val="F2F5F9"/>
                </a:solidFill>
                <a:latin typeface="Calibri"/>
              </a:rPr>
              <a:t>11/11 automated accessibility gates</a:t>
            </a:r>
          </a:p>
        </p:txBody>
      </p:sp>
      <p:sp>
        <p:nvSpPr>
          <p:cNvPr id="17" name="Oval 16"/>
          <p:cNvSpPr/>
          <p:nvPr/>
        </p:nvSpPr>
        <p:spPr>
          <a:xfrm>
            <a:off x="1051560" y="4864608"/>
            <a:ext cx="91440" cy="91440"/>
          </a:xfrm>
          <a:prstGeom prst="ellipse">
            <a:avLst/>
          </a:prstGeom>
          <a:solidFill>
            <a:srgbClr val="3DD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5880" y="4745736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350" b="0" i="0">
                <a:solidFill>
                  <a:srgbClr val="F2F5F9"/>
                </a:solidFill>
                <a:latin typeface="Calibri"/>
              </a:rPr>
              <a:t>Latency, measured on real audio</a:t>
            </a:r>
          </a:p>
        </p:txBody>
      </p:sp>
      <p:sp>
        <p:nvSpPr>
          <p:cNvPr id="19" name="Oval 18"/>
          <p:cNvSpPr/>
          <p:nvPr/>
        </p:nvSpPr>
        <p:spPr>
          <a:xfrm>
            <a:off x="1051560" y="5340096"/>
            <a:ext cx="91440" cy="91440"/>
          </a:xfrm>
          <a:prstGeom prst="ellipse">
            <a:avLst/>
          </a:prstGeom>
          <a:solidFill>
            <a:srgbClr val="3DD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25880" y="5221224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350" b="0" i="0">
                <a:solidFill>
                  <a:srgbClr val="F2F5F9"/>
                </a:solidFill>
                <a:latin typeface="Calibri"/>
              </a:rPr>
              <a:t>Clean-clone install with no weights in git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2267712"/>
            <a:ext cx="5120640" cy="3749039"/>
          </a:xfrm>
          <a:prstGeom prst="rect">
            <a:avLst/>
          </a:prstGeom>
          <a:solidFill>
            <a:srgbClr val="151C28"/>
          </a:solidFill>
          <a:ln w="1270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24688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400" b="1" i="0">
                <a:solidFill>
                  <a:srgbClr val="FF6B6B"/>
                </a:solidFill>
                <a:latin typeface="Calibri"/>
              </a:rPr>
              <a:t>NOT VERIFIED — no device</a:t>
            </a:r>
          </a:p>
        </p:txBody>
      </p:sp>
      <p:sp>
        <p:nvSpPr>
          <p:cNvPr id="23" name="Oval 22"/>
          <p:cNvSpPr/>
          <p:nvPr/>
        </p:nvSpPr>
        <p:spPr>
          <a:xfrm>
            <a:off x="6537960" y="2962656"/>
            <a:ext cx="91440" cy="91440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12280" y="2843784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350" b="0" i="0">
                <a:solidFill>
                  <a:srgbClr val="F2F5F9"/>
                </a:solidFill>
                <a:latin typeface="Calibri"/>
              </a:rPr>
              <a:t>Any Snapdragon NPU latency figure</a:t>
            </a:r>
          </a:p>
        </p:txBody>
      </p:sp>
      <p:sp>
        <p:nvSpPr>
          <p:cNvPr id="25" name="Oval 24"/>
          <p:cNvSpPr/>
          <p:nvPr/>
        </p:nvSpPr>
        <p:spPr>
          <a:xfrm>
            <a:off x="6537960" y="3438144"/>
            <a:ext cx="91440" cy="91440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80" y="3319272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350" b="0" i="0">
                <a:solidFill>
                  <a:srgbClr val="F2F5F9"/>
                </a:solidFill>
                <a:latin typeface="Calibri"/>
              </a:rPr>
              <a:t>Any on-device photograph or capture</a:t>
            </a:r>
          </a:p>
        </p:txBody>
      </p:sp>
      <p:sp>
        <p:nvSpPr>
          <p:cNvPr id="27" name="Oval 26"/>
          <p:cNvSpPr/>
          <p:nvPr/>
        </p:nvSpPr>
        <p:spPr>
          <a:xfrm>
            <a:off x="6537960" y="3913632"/>
            <a:ext cx="91440" cy="91440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379476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350" b="0" i="0">
                <a:solidFill>
                  <a:srgbClr val="F2F5F9"/>
                </a:solidFill>
                <a:latin typeface="Calibri"/>
              </a:rPr>
              <a:t>QNN context-binary generation</a:t>
            </a:r>
          </a:p>
        </p:txBody>
      </p:sp>
      <p:sp>
        <p:nvSpPr>
          <p:cNvPr id="29" name="Oval 28"/>
          <p:cNvSpPr/>
          <p:nvPr/>
        </p:nvSpPr>
        <p:spPr>
          <a:xfrm>
            <a:off x="6537960" y="4389120"/>
            <a:ext cx="91440" cy="91440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4270248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350" b="0" i="0">
                <a:solidFill>
                  <a:srgbClr val="F2F5F9"/>
                </a:solidFill>
                <a:latin typeface="Calibri"/>
              </a:rPr>
              <a:t>AI Hub compile and profile runs</a:t>
            </a:r>
          </a:p>
        </p:txBody>
      </p:sp>
      <p:sp>
        <p:nvSpPr>
          <p:cNvPr id="31" name="Oval 30"/>
          <p:cNvSpPr/>
          <p:nvPr/>
        </p:nvSpPr>
        <p:spPr>
          <a:xfrm>
            <a:off x="6537960" y="4864608"/>
            <a:ext cx="91440" cy="91440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4745736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350" b="0" i="0">
                <a:solidFill>
                  <a:srgbClr val="F2F5F9"/>
                </a:solidFill>
                <a:latin typeface="Calibri"/>
              </a:rPr>
              <a:t>Windows / DirectML execution path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815584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400" b="0" i="0">
                <a:solidFill>
                  <a:srgbClr val="F2F5F9"/>
                </a:solidFill>
                <a:latin typeface="Calibri"/>
              </a:rPr>
              <a:t>No Snapdragon device was available during this build. The NPU backend is implemented against the real QNN and AI Hub APIs and documented step by step — but implemented is not measured, and no NPU number is claimed anywhere in this project.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000" b="0" i="0">
                <a:solidFill>
                  <a:srgbClr val="273142"/>
                </a:solidFill>
                <a:latin typeface="Calibri"/>
              </a:rPr>
              <a:t>Snapdragoon — on-device accessibility co-pilot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65815" y="638251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750"/>
              </a:spcAft>
            </a:pPr>
            <a:r>
              <a:rPr sz="1000" b="0" i="0">
                <a:solidFill>
                  <a:srgbClr val="273142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Aft>
                <a:spcPts val="960"/>
              </a:spcAft>
            </a:pPr>
            <a:r>
              <a:rPr sz="1200" b="1" i="0">
                <a:solidFill>
                  <a:srgbClr val="F5A623"/>
                </a:solidFill>
                <a:latin typeface="Calibri"/>
              </a:rPr>
              <a:t>PLATFORM RELEVANCE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77824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2F5F9"/>
                </a:solidFill>
                <a:latin typeface="Calibri"/>
              </a:rPr>
              <a:t>The Snapdragon path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81328"/>
            <a:ext cx="1371600" cy="254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2084832"/>
            <a:ext cx="91440" cy="9144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6596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F2F5F9"/>
                </a:solidFill>
                <a:latin typeface="Calibri"/>
              </a:rPr>
              <a:t>The models are already the right ones. </a:t>
            </a:r>
            <a:r>
              <a:rPr sz="1500">
                <a:solidFill>
                  <a:srgbClr val="9AA7B8"/>
                </a:solidFill>
                <a:latin typeface="Calibri"/>
              </a:rPr>
              <a:t>Both are published by Qualcomm on AI Hub in QNN-ready form, so the deployment is a compile step rather than a model swap.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944368"/>
            <a:ext cx="91440" cy="9144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825496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F2F5F9"/>
                </a:solidFill>
                <a:latin typeface="Calibri"/>
              </a:rPr>
              <a:t>QualcommEngine targets QNN, AI Hub DirectML and LiteRT. </a:t>
            </a:r>
            <a:r>
              <a:rPr sz="1500">
                <a:solidFill>
                  <a:srgbClr val="9AA7B8"/>
                </a:solidFill>
                <a:latin typeface="Calibri"/>
              </a:rPr>
              <a:t>Off-Snapdragon it raises QualcommUnavailable rather than silently degrading to CPU — so a demo can never claim an NPU it is not using.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803904"/>
            <a:ext cx="91440" cy="9144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685032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F2F5F9"/>
                </a:solidFill>
                <a:latin typeface="Calibri"/>
              </a:rPr>
              <a:t>The status endpoint reports the truth. </a:t>
            </a:r>
            <a:r>
              <a:rPr sz="1500">
                <a:solidFill>
                  <a:srgbClr val="9AA7B8"/>
                </a:solidFill>
                <a:latin typeface="Calibri"/>
              </a:rPr>
              <a:t>/api/status states which engine is live and whether it is NPU-accelerated, and the UI shows it. Showing that proactively is worth more than being asked.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663440"/>
            <a:ext cx="91440" cy="9144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544568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F2F5F9"/>
                </a:solidFill>
                <a:latin typeface="Calibri"/>
              </a:rPr>
              <a:t>Conversion is documented command by command. </a:t>
            </a:r>
            <a:r>
              <a:rPr sz="1500">
                <a:solidFill>
                  <a:srgbClr val="9AA7B8"/>
                </a:solidFill>
                <a:latin typeface="Calibri"/>
              </a:rPr>
              <a:t>Expected QNN tensor names, KV-cache handling, and a troubleshooting table in docs/SNAPDRAGON_DEPLOYMENT.md.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5522976"/>
            <a:ext cx="91440" cy="9144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5404104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F2F5F9"/>
                </a:solidFill>
                <a:latin typeface="Calibri"/>
              </a:rPr>
              <a:t>And then run the benchmark. </a:t>
            </a:r>
            <a:r>
              <a:rPr sz="1500">
                <a:solidFill>
                  <a:srgbClr val="9AA7B8"/>
                </a:solidFill>
                <a:latin typeface="Calibri"/>
              </a:rPr>
              <a:t>scripts/benchmark.py --backend qualcomm produces the NPU figures. It has never been run, because there was no device to run it 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8251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000" b="0" i="0">
                <a:solidFill>
                  <a:srgbClr val="273142"/>
                </a:solidFill>
                <a:latin typeface="Calibri"/>
              </a:rPr>
              <a:t>Snapdragoon — on-device accessibility co-pilot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65815" y="638251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750"/>
              </a:spcAft>
            </a:pPr>
            <a:r>
              <a:rPr sz="1000" b="0" i="0">
                <a:solidFill>
                  <a:srgbClr val="273142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Aft>
                <a:spcPts val="960"/>
              </a:spcAft>
            </a:pPr>
            <a:r>
              <a:rPr sz="1200" b="1" i="0">
                <a:solidFill>
                  <a:srgbClr val="F5A623"/>
                </a:solidFill>
                <a:latin typeface="Calibri"/>
              </a:rPr>
              <a:t>TRY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77824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2F5F9"/>
                </a:solidFill>
                <a:latin typeface="Calibri"/>
              </a:rPr>
              <a:t>Run it in four commands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81328"/>
            <a:ext cx="1371600" cy="254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029968"/>
            <a:ext cx="10607040" cy="512064"/>
          </a:xfrm>
          <a:prstGeom prst="rect">
            <a:avLst/>
          </a:prstGeom>
          <a:solidFill>
            <a:srgbClr val="151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2" y="2148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350" b="0" i="0">
                <a:solidFill>
                  <a:srgbClr val="9AA7B8"/>
                </a:solidFill>
                <a:latin typeface="Consolas"/>
              </a:rPr>
              <a:t>$ git clone https://github.com/challalokesh08/snapdragoon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651760"/>
            <a:ext cx="10607040" cy="512064"/>
          </a:xfrm>
          <a:prstGeom prst="rect">
            <a:avLst/>
          </a:prstGeom>
          <a:solidFill>
            <a:srgbClr val="151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7706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350" b="0" i="0">
                <a:solidFill>
                  <a:srgbClr val="9AA7B8"/>
                </a:solidFill>
                <a:latin typeface="Consolas"/>
              </a:rPr>
              <a:t>$ cd snapdragoon &amp;&amp; python -m venv .venv &amp;&amp; source .venv/bin/activate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273552"/>
            <a:ext cx="10607040" cy="512064"/>
          </a:xfrm>
          <a:prstGeom prst="rect">
            <a:avLst/>
          </a:prstGeom>
          <a:solidFill>
            <a:srgbClr val="151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339242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350" b="0" i="0">
                <a:solidFill>
                  <a:srgbClr val="F2F5F9"/>
                </a:solidFill>
                <a:latin typeface="Consolas"/>
              </a:rPr>
              <a:t>$ pip install -r requirements.txt        # runs with no model files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895344"/>
            <a:ext cx="10607040" cy="512064"/>
          </a:xfrm>
          <a:prstGeom prst="rect">
            <a:avLst/>
          </a:prstGeom>
          <a:solidFill>
            <a:srgbClr val="151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3272" y="401421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350" b="0" i="0">
                <a:solidFill>
                  <a:srgbClr val="F2F5F9"/>
                </a:solidFill>
                <a:latin typeface="Consolas"/>
              </a:rPr>
              <a:t>$ python -m snapdragoon.web.app          # → http://127.0.0.1:8765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18304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400" b="1" i="0">
                <a:solidFill>
                  <a:srgbClr val="F5A623"/>
                </a:solidFill>
                <a:latin typeface="Calibri"/>
              </a:rPr>
              <a:t>With real inference: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350" b="0" i="0">
                <a:solidFill>
                  <a:srgbClr val="F2F5F9"/>
                </a:solidFill>
                <a:latin typeface="Consolas"/>
              </a:rPr>
              <a:t>$ pip install -r requirements-ml.txt &amp;&amp; python scripts/fetch_models.py --public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85216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350" b="0" i="1">
                <a:solidFill>
                  <a:srgbClr val="9AA7B8"/>
                </a:solidFill>
                <a:latin typeface="Calibri"/>
              </a:rPr>
              <a:t>Models are fetched, never vendored — the repository stays small and carries no third-party weights.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38251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000" b="0" i="0">
                <a:solidFill>
                  <a:srgbClr val="273142"/>
                </a:solidFill>
                <a:latin typeface="Calibri"/>
              </a:rPr>
              <a:t>Snapdragoon — on-device accessibility co-pilot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65815" y="638251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750"/>
              </a:spcAft>
            </a:pPr>
            <a:r>
              <a:rPr sz="1000" b="0" i="0">
                <a:solidFill>
                  <a:srgbClr val="273142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234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4800" b="0" i="0">
                <a:solidFill>
                  <a:srgbClr val="F5A623"/>
                </a:solidFill>
                <a:latin typeface="Calibri"/>
              </a:rPr>
              <a:t>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708"/>
              </a:spcAft>
            </a:pPr>
            <a:r>
              <a:rPr sz="3400" b="1" i="0">
                <a:solidFill>
                  <a:srgbClr val="F2F5F9"/>
                </a:solidFill>
                <a:latin typeface="Calibri"/>
              </a:rPr>
              <a:t>On-device AI should not require sighted, hearing,
keyboard-and-mouse users to operate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310128"/>
            <a:ext cx="2011680" cy="254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58444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780"/>
              </a:spcAft>
            </a:pPr>
            <a:r>
              <a:rPr sz="1700" b="0" i="0">
                <a:solidFill>
                  <a:srgbClr val="9AA7B8"/>
                </a:solidFill>
                <a:latin typeface="Calibri"/>
              </a:rPr>
              <a:t>Snapdragoon is a working, tested, honestly-measured answer — with an NPU path ready for the hardware it was built for.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1663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780"/>
              </a:spcAft>
            </a:pPr>
            <a:r>
              <a:rPr sz="1250" b="0" i="0">
                <a:solidFill>
                  <a:srgbClr val="3DD6C0"/>
                </a:solidFill>
                <a:latin typeface="Calibri"/>
              </a:rPr>
              <a:t>github.com/challalokesh08/snapdragoon</a:t>
            </a:r>
          </a:p>
          <a:p>
            <a:pPr>
              <a:lnSpc>
                <a:spcPct val="130000"/>
              </a:lnSpc>
              <a:spcAft>
                <a:spcPts val="780"/>
              </a:spcAft>
            </a:pPr>
            <a:r>
              <a:rPr sz="1250" b="0" i="0">
                <a:solidFill>
                  <a:srgbClr val="9AA7B8"/>
                </a:solidFill>
                <a:latin typeface="Calibri"/>
              </a:rPr>
              <a:t>      Independent student project — not affiliated with or endorsed by Qualcomm. “Snapdragon” is a trademark of Qualcomm Incorporated.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50"/>
              </a:spcAft>
            </a:pPr>
            <a:r>
              <a:rPr sz="1000" b="0" i="0">
                <a:solidFill>
                  <a:srgbClr val="273142"/>
                </a:solidFill>
                <a:latin typeface="Calibri"/>
              </a:rPr>
              <a:t>Snapdragoon — on-device accessibility co-pilot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8251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750"/>
              </a:spcAft>
            </a:pPr>
            <a:r>
              <a:rPr sz="1000" b="0" i="0">
                <a:solidFill>
                  <a:srgbClr val="273142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